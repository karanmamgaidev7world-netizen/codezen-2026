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2" r:id="rId5"/>
    <p:sldId id="261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00AC00"/>
    <a:srgbClr val="1A04B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C8C4-D1B5-D388-BDD6-0DAE84729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A93C3-9FD1-C6FF-3A5D-C5E39B41C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70609-1821-9551-0D9A-CCC55BFEB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B54D-7E73-4D4C-842B-E5540648AA7B}" type="datetimeFigureOut">
              <a:rPr lang="en-IN" smtClean="0"/>
              <a:t>07/02/2026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69B5C-D73B-D69E-2525-CAB7449C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23167-CB7F-4FCC-2030-A933B4EF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BE863-1E12-4E77-9CAC-577C1203A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0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C34BF-E538-17E9-0780-5F749EE3C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01E10-60A1-7F39-2A8D-6C4FFB607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D7C0-0CEF-EE44-B66C-E0563D54C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B54D-7E73-4D4C-842B-E5540648AA7B}" type="datetimeFigureOut">
              <a:rPr lang="en-IN" smtClean="0"/>
              <a:t>07/02/2026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2C9AC-FD95-E2F4-D869-F3BC5E0D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33788-DCA9-DB71-C05E-F134135F0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BE863-1E12-4E77-9CAC-577C1203A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77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AB180-AED6-A54D-6A81-D15A1C24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C5F4F-7620-F6C4-82FB-358DD525C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4D71B-0A2F-7E4A-6FF3-B36519668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B54D-7E73-4D4C-842B-E5540648AA7B}" type="datetimeFigureOut">
              <a:rPr lang="en-IN" smtClean="0"/>
              <a:t>07/02/2026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84132-4484-EC49-1284-1761DF810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51567-85E9-D154-4773-2D4258606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BE863-1E12-4E77-9CAC-577C1203A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489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92072-7973-DF5E-43D4-E47278F24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DAB12-12E0-E136-BEE6-6402C9539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E837EA-2EB8-75E2-14D1-C120D3E6B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4E7ED-0C58-A800-A945-58FCD52A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B54D-7E73-4D4C-842B-E5540648AA7B}" type="datetimeFigureOut">
              <a:rPr lang="en-IN" smtClean="0"/>
              <a:t>07/02/2026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1602D-C030-2312-53C5-D470ABD7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2AFD1-A9A7-6B3E-E487-09676863F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BE863-1E12-4E77-9CAC-577C1203A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60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4A24-CCB2-8743-A08F-489F780FF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BE3CB-A131-E896-8399-33AF1783E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14F3C-5078-C78C-D19C-3069C90F7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0AFBE-9F84-ACD1-FEE1-185A2D678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BDF7A-80A3-AEF8-AB31-D0AFFF80B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C388C5-1526-5E4B-3F0A-3DC9ECFE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B54D-7E73-4D4C-842B-E5540648AA7B}" type="datetimeFigureOut">
              <a:rPr lang="en-IN" smtClean="0"/>
              <a:t>07/02/2026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334AD-3153-3BA3-F7C3-30800A816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80B6F7-D6EF-2A33-7DFE-D676F8B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BE863-1E12-4E77-9CAC-577C1203A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01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A2397-E692-8340-FEDF-51EE7358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B0B8C-F655-DE8A-C8BB-A27197D73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B54D-7E73-4D4C-842B-E5540648AA7B}" type="datetimeFigureOut">
              <a:rPr lang="en-IN" smtClean="0"/>
              <a:t>07/02/2026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49A0E-FA26-6906-205F-D9536E0A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885D2-F42D-18C0-1E6D-A009786A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BE863-1E12-4E77-9CAC-577C1203A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24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857720-F4D7-1265-0C78-4A4042FB9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B54D-7E73-4D4C-842B-E5540648AA7B}" type="datetimeFigureOut">
              <a:rPr lang="en-IN" smtClean="0"/>
              <a:t>07/02/2026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E9AA92-9DE5-4569-B4C2-5D31FCB2F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40E9D-290B-B6AB-4E74-3C3CC418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BE863-1E12-4E77-9CAC-577C1203A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01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39B5-D025-0B7D-BBC2-351275A2E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3061B-F0D9-8BBD-66B2-D4C9CD688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471E6-BD79-7FB3-EFD7-CF1EC4DD9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FBE55-FC1D-5CB9-A3B5-ECD6690A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B54D-7E73-4D4C-842B-E5540648AA7B}" type="datetimeFigureOut">
              <a:rPr lang="en-IN" smtClean="0"/>
              <a:t>07/02/2026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2EAB5-01E2-D4B8-6F3F-7874FCF2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13584-A052-6B9B-BF12-C1362ACF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BE863-1E12-4E77-9CAC-577C1203A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246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80E3-455F-0335-C947-2DC1E5BE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3AA31-2C83-8C19-056E-9F7B429F3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B438C-B76B-FE9F-A428-859F92A44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D1216-C8EC-7254-11E0-6291091B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B54D-7E73-4D4C-842B-E5540648AA7B}" type="datetimeFigureOut">
              <a:rPr lang="en-IN" smtClean="0"/>
              <a:t>07/02/2026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14229-F539-4B8D-CF80-9C6B62A5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CDAEC-3823-6071-A67F-79337AD1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BE863-1E12-4E77-9CAC-577C1203A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23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A3A0A-E4FD-8C80-AB3B-1481A3EAC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6FBD9-27A8-CDA8-8FFA-D093BABCA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47EDC-34CF-482F-CB11-538247BDC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B54D-7E73-4D4C-842B-E5540648AA7B}" type="datetimeFigureOut">
              <a:rPr lang="en-IN" smtClean="0"/>
              <a:t>07/02/2026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6108B-E369-76DB-3A8B-818E646D3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2F5-2309-8F8E-0E7D-DA376191C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BE863-1E12-4E77-9CAC-577C1203A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297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9894F8-5554-1EB8-20FD-E8328C7B3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85D86-22F2-8F17-280C-05BC69ACC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AC109-9222-B188-5F8D-573EC73A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7B54D-7E73-4D4C-842B-E5540648AA7B}" type="datetimeFigureOut">
              <a:rPr lang="en-IN" smtClean="0"/>
              <a:t>07/02/2026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D54B0-489A-336A-E95D-42CC8170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81C8E-43BB-9624-8371-0F91328C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BE863-1E12-4E77-9CAC-577C1203A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C7F974-2BB3-40BC-394C-FE3CABDCA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C88D2-0984-8439-2C25-8E000C5C2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67F02-3066-04C1-6ADD-C93FEC6D2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B7B54D-7E73-4D4C-842B-E5540648AA7B}" type="datetimeFigureOut">
              <a:rPr lang="en-IN" smtClean="0"/>
              <a:t>07/02/2026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C70D5-5164-B22D-1EF8-C935786E2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C06C2-F4CE-7F0C-1FF5-D0C798667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BE863-1E12-4E77-9CAC-577C1203A7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83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D50F262-343C-4101-AB3C-9DA1072F7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na molecule in blue lights&#10;&#10;AI-generated content may be incorrect.">
            <a:extLst>
              <a:ext uri="{FF2B5EF4-FFF2-40B4-BE49-F238E27FC236}">
                <a16:creationId xmlns:a16="http://schemas.microsoft.com/office/drawing/2014/main" id="{8F82BA30-0B20-46E9-365D-4198D0D26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27" r="-2" b="3510"/>
          <a:stretch>
            <a:fillRect/>
          </a:stretch>
        </p:blipFill>
        <p:spPr>
          <a:xfrm>
            <a:off x="7816130" y="-2"/>
            <a:ext cx="4375870" cy="6858000"/>
          </a:xfrm>
          <a:custGeom>
            <a:avLst/>
            <a:gdLst/>
            <a:ahLst/>
            <a:cxnLst/>
            <a:rect l="l" t="t" r="r" b="b"/>
            <a:pathLst>
              <a:path w="4375870" h="6858000">
                <a:moveTo>
                  <a:pt x="4441" y="0"/>
                </a:moveTo>
                <a:lnTo>
                  <a:pt x="4375870" y="0"/>
                </a:lnTo>
                <a:lnTo>
                  <a:pt x="4375870" y="23"/>
                </a:lnTo>
                <a:lnTo>
                  <a:pt x="4375870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</p:spPr>
      </p:pic>
      <p:pic>
        <p:nvPicPr>
          <p:cNvPr id="14" name="Picture 13" descr="A logo of a person and leaves&#10;&#10;AI-generated content may be incorrect.">
            <a:extLst>
              <a:ext uri="{FF2B5EF4-FFF2-40B4-BE49-F238E27FC236}">
                <a16:creationId xmlns:a16="http://schemas.microsoft.com/office/drawing/2014/main" id="{BC2BFB17-944E-ADE2-EEAD-C352A04FE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6" r="10258"/>
          <a:stretch>
            <a:fillRect/>
          </a:stretch>
        </p:blipFill>
        <p:spPr>
          <a:xfrm>
            <a:off x="3595404" y="33"/>
            <a:ext cx="4942298" cy="6857999"/>
          </a:xfrm>
          <a:custGeom>
            <a:avLst/>
            <a:gdLst/>
            <a:ahLst/>
            <a:cxnLst/>
            <a:rect l="l" t="t" r="r" b="b"/>
            <a:pathLst>
              <a:path w="4942298" h="6857999">
                <a:moveTo>
                  <a:pt x="0" y="0"/>
                </a:moveTo>
                <a:lnTo>
                  <a:pt x="4164238" y="0"/>
                </a:lnTo>
                <a:lnTo>
                  <a:pt x="4271743" y="210478"/>
                </a:lnTo>
                <a:cubicBezTo>
                  <a:pt x="4695097" y="1127919"/>
                  <a:pt x="4942298" y="2233909"/>
                  <a:pt x="4942298" y="3424428"/>
                </a:cubicBezTo>
                <a:cubicBezTo>
                  <a:pt x="4942298" y="4614948"/>
                  <a:pt x="4695097" y="5720938"/>
                  <a:pt x="4271743" y="6638378"/>
                </a:cubicBezTo>
                <a:lnTo>
                  <a:pt x="4159568" y="6857999"/>
                </a:lnTo>
                <a:lnTo>
                  <a:pt x="49488" y="6857999"/>
                </a:lnTo>
                <a:lnTo>
                  <a:pt x="119616" y="6721637"/>
                </a:lnTo>
                <a:cubicBezTo>
                  <a:pt x="540124" y="5863919"/>
                  <a:pt x="796416" y="4724528"/>
                  <a:pt x="796416" y="3474162"/>
                </a:cubicBezTo>
                <a:cubicBezTo>
                  <a:pt x="796416" y="2140439"/>
                  <a:pt x="504812" y="932979"/>
                  <a:pt x="33352" y="58950"/>
                </a:cubicBezTo>
                <a:close/>
              </a:path>
            </a:pathLst>
          </a:custGeom>
        </p:spPr>
      </p:pic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6A0924B3-0260-445E-AFD7-9533C0D1B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97136" cy="6858000"/>
          </a:xfrm>
          <a:custGeom>
            <a:avLst/>
            <a:gdLst>
              <a:gd name="connsiteX0" fmla="*/ 0 w 4397136"/>
              <a:gd name="connsiteY0" fmla="*/ 0 h 6858000"/>
              <a:gd name="connsiteX1" fmla="*/ 3599069 w 4397136"/>
              <a:gd name="connsiteY1" fmla="*/ 0 h 6858000"/>
              <a:gd name="connsiteX2" fmla="*/ 3634072 w 4397136"/>
              <a:gd name="connsiteY2" fmla="*/ 58977 h 6858000"/>
              <a:gd name="connsiteX3" fmla="*/ 4397136 w 4397136"/>
              <a:gd name="connsiteY3" fmla="*/ 3474189 h 6858000"/>
              <a:gd name="connsiteX4" fmla="*/ 3802221 w 4397136"/>
              <a:gd name="connsiteY4" fmla="*/ 6546415 h 6858000"/>
              <a:gd name="connsiteX5" fmla="*/ 3649466 w 4397136"/>
              <a:gd name="connsiteY5" fmla="*/ 6858000 h 6858000"/>
              <a:gd name="connsiteX6" fmla="*/ 0 w 439713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7136" h="6858000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7C34E8CB-B972-4A94-8469-315C10C2A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86504" cy="6858000"/>
          </a:xfrm>
          <a:custGeom>
            <a:avLst/>
            <a:gdLst>
              <a:gd name="connsiteX0" fmla="*/ 0 w 4386504"/>
              <a:gd name="connsiteY0" fmla="*/ 0 h 6858000"/>
              <a:gd name="connsiteX1" fmla="*/ 3588437 w 4386504"/>
              <a:gd name="connsiteY1" fmla="*/ 0 h 6858000"/>
              <a:gd name="connsiteX2" fmla="*/ 3623440 w 4386504"/>
              <a:gd name="connsiteY2" fmla="*/ 58977 h 6858000"/>
              <a:gd name="connsiteX3" fmla="*/ 4386504 w 4386504"/>
              <a:gd name="connsiteY3" fmla="*/ 3474189 h 6858000"/>
              <a:gd name="connsiteX4" fmla="*/ 3791589 w 4386504"/>
              <a:gd name="connsiteY4" fmla="*/ 6546415 h 6858000"/>
              <a:gd name="connsiteX5" fmla="*/ 3638834 w 4386504"/>
              <a:gd name="connsiteY5" fmla="*/ 6858000 h 6858000"/>
              <a:gd name="connsiteX6" fmla="*/ 0 w 438650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6504" h="6858000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B6868B-822B-E7A9-232E-68AB98FDF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3" y="1511589"/>
            <a:ext cx="3430958" cy="2896432"/>
          </a:xfrm>
        </p:spPr>
        <p:txBody>
          <a:bodyPr anchor="b">
            <a:normAutofit/>
          </a:bodyPr>
          <a:lstStyle/>
          <a:p>
            <a:r>
              <a:rPr lang="en-IN" sz="4000" b="1" dirty="0">
                <a:solidFill>
                  <a:schemeClr val="accent3"/>
                </a:solidFill>
                <a:latin typeface="HGSSoeiKakugothicUB" panose="020B0400000000000000" pitchFamily="34" charset="-128"/>
                <a:ea typeface="HGSSoeiKakugothicUB" panose="020B0400000000000000" pitchFamily="34" charset="-128"/>
              </a:rPr>
              <a:t>MedConnect</a:t>
            </a:r>
            <a:br>
              <a:rPr lang="en-IN" sz="4000" b="1" dirty="0">
                <a:latin typeface="HGSSoeiKakugothicUB" panose="020B0400000000000000" pitchFamily="34" charset="-128"/>
                <a:ea typeface="HGSSoeiKakugothicUB" panose="020B0400000000000000" pitchFamily="34" charset="-128"/>
              </a:rPr>
            </a:br>
            <a:r>
              <a:rPr lang="en-IN" sz="1800" b="1" dirty="0">
                <a:latin typeface="HGSSoeiKakugothicUB" panose="020B0400000000000000" pitchFamily="34" charset="-128"/>
                <a:ea typeface="HGSSoeiKakugothicUB" panose="020B0400000000000000" pitchFamily="34" charset="-128"/>
              </a:rPr>
              <a:t>-</a:t>
            </a:r>
            <a:r>
              <a:rPr lang="en-IN" sz="1800" dirty="0">
                <a:latin typeface="HGSSoeiKakugothicUB" panose="020B0400000000000000" pitchFamily="34" charset="-128"/>
                <a:ea typeface="HGSSoeiKakugothicUB" panose="020B0400000000000000" pitchFamily="34" charset="-128"/>
              </a:rPr>
              <a:t>Bridging Patients and Safe Prescriptions.</a:t>
            </a:r>
            <a:endParaRPr lang="en-IN" sz="1800" b="1" dirty="0">
              <a:latin typeface="HGSSoeiKakugothicUB" panose="020B0400000000000000" pitchFamily="34" charset="-128"/>
              <a:ea typeface="HGSSoeiKakugothicUB" panose="020B0400000000000000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E61C26-8002-ED86-7F1F-E45FDA371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2" y="4769995"/>
            <a:ext cx="3958224" cy="1814284"/>
          </a:xfrm>
        </p:spPr>
        <p:txBody>
          <a:bodyPr>
            <a:normAutofit/>
          </a:bodyPr>
          <a:lstStyle/>
          <a:p>
            <a:pPr algn="l"/>
            <a:r>
              <a:rPr lang="en-IN" sz="2100" b="1" dirty="0"/>
              <a:t>Project Name: MedConnect</a:t>
            </a:r>
          </a:p>
          <a:p>
            <a:pPr algn="l"/>
            <a:r>
              <a:rPr lang="en-IN" sz="2100" b="1" dirty="0"/>
              <a:t>Team Name: Let’s Debug it</a:t>
            </a:r>
          </a:p>
          <a:p>
            <a:pPr algn="l"/>
            <a:r>
              <a:rPr lang="en-IN" sz="2100" b="1" dirty="0"/>
              <a:t>Team Members: Karan Sharma</a:t>
            </a:r>
          </a:p>
          <a:p>
            <a:pPr algn="l"/>
            <a:r>
              <a:rPr lang="en-IN" sz="2100" b="1" dirty="0"/>
              <a:t>Tracks Chosen: Healthcare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4A821F-8663-46BA-8CC0-D4C44F639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 descr="A heart with a stethoscope">
            <a:extLst>
              <a:ext uri="{FF2B5EF4-FFF2-40B4-BE49-F238E27FC236}">
                <a16:creationId xmlns:a16="http://schemas.microsoft.com/office/drawing/2014/main" id="{9FE3C91E-9B66-4F71-525D-A02D4D8C1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199" y="2136375"/>
            <a:ext cx="1173917" cy="12221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B9D3C1-0773-93B0-102F-767E3EC5A5E5}"/>
              </a:ext>
            </a:extLst>
          </p:cNvPr>
          <p:cNvSpPr txBox="1"/>
          <p:nvPr/>
        </p:nvSpPr>
        <p:spPr>
          <a:xfrm>
            <a:off x="512369" y="1149614"/>
            <a:ext cx="3372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003300"/>
                </a:solidFill>
                <a:latin typeface="Algerian" panose="04020705040A02060702" pitchFamily="82" charset="0"/>
              </a:rPr>
              <a:t>CODEZEN 2026</a:t>
            </a:r>
          </a:p>
        </p:txBody>
      </p:sp>
    </p:spTree>
    <p:extLst>
      <p:ext uri="{BB962C8B-B14F-4D97-AF65-F5344CB8AC3E}">
        <p14:creationId xmlns:p14="http://schemas.microsoft.com/office/powerpoint/2010/main" val="37443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D8DCF-3D73-5421-D3AD-4B9A0323D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178" y="365125"/>
            <a:ext cx="3328456" cy="107393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PROBLEM STATEMENT</a:t>
            </a:r>
            <a:endParaRPr lang="en-IN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C80CA-523C-BA31-46CA-9C5A47E66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86810"/>
            <a:ext cx="5072868" cy="582933"/>
          </a:xfrm>
        </p:spPr>
        <p:txBody>
          <a:bodyPr>
            <a:normAutofit fontScale="92500"/>
          </a:bodyPr>
          <a:lstStyle/>
          <a:p>
            <a:r>
              <a:rPr lang="en-IN" u="sng" dirty="0"/>
              <a:t>Disconnectivity in Health Care System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E92F14-32F6-A3C9-F6CE-825D66984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2006220"/>
            <a:ext cx="4766872" cy="4851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b="1" dirty="0"/>
              <a:t>Fragmented Data:                            </a:t>
            </a:r>
            <a:r>
              <a:rPr lang="en-IN" sz="2100" dirty="0"/>
              <a:t>Data on Internet is very scattered due to lack of comprehensive interoperable digital systems.</a:t>
            </a:r>
          </a:p>
          <a:p>
            <a:pPr marL="0" indent="0">
              <a:buNone/>
            </a:pPr>
            <a:r>
              <a:rPr lang="en-IN" sz="2500" b="1" dirty="0"/>
              <a:t>Medication Mistakes:</a:t>
            </a:r>
          </a:p>
          <a:p>
            <a:pPr marL="0" indent="0">
              <a:buNone/>
            </a:pPr>
            <a:r>
              <a:rPr lang="en-US" sz="2000" dirty="0"/>
              <a:t>FDA reviews about 1,400 reports of medication errors per month (approximately 16,800+ annually).</a:t>
            </a:r>
          </a:p>
          <a:p>
            <a:pPr marL="0" indent="0">
              <a:buNone/>
            </a:pPr>
            <a:r>
              <a:rPr lang="en-US" sz="2000" dirty="0"/>
              <a:t>The most common errors included wrong drug (30%), wrong strength (26%), and wrong directions (15%).</a:t>
            </a:r>
            <a:endParaRPr lang="en-IN" sz="2000" dirty="0"/>
          </a:p>
          <a:p>
            <a:pPr marL="0" indent="0">
              <a:buNone/>
            </a:pPr>
            <a:endParaRPr lang="en-IN" sz="2100" dirty="0"/>
          </a:p>
          <a:p>
            <a:pPr marL="0" indent="0">
              <a:buNone/>
            </a:pPr>
            <a:endParaRPr lang="en-IN" sz="2100" dirty="0"/>
          </a:p>
          <a:p>
            <a:pPr marL="0" indent="0">
              <a:buNone/>
            </a:pPr>
            <a:endParaRPr lang="en-IN" sz="2200" dirty="0"/>
          </a:p>
          <a:p>
            <a:endParaRPr lang="en-IN" sz="22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85786A-326A-8B5E-0E9D-048AFE328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70928" y="1431172"/>
            <a:ext cx="2921072" cy="430687"/>
          </a:xfrm>
        </p:spPr>
        <p:txBody>
          <a:bodyPr>
            <a:normAutofit fontScale="92500"/>
          </a:bodyPr>
          <a:lstStyle/>
          <a:p>
            <a:r>
              <a:rPr lang="en-IN" u="sng" dirty="0"/>
              <a:t>#MedConnect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04C747-A7E8-76A7-C906-3625E0ED5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00572" y="2006220"/>
            <a:ext cx="3991428" cy="4851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b="1" dirty="0"/>
              <a:t>Accurate Information:</a:t>
            </a:r>
          </a:p>
          <a:p>
            <a:pPr marL="0" indent="0">
              <a:buNone/>
            </a:pPr>
            <a:r>
              <a:rPr lang="en-IN" sz="2100" dirty="0"/>
              <a:t>Providing user with right information and with good suggestions through blogs.</a:t>
            </a:r>
          </a:p>
          <a:p>
            <a:pPr marL="0" indent="0">
              <a:buNone/>
            </a:pPr>
            <a:r>
              <a:rPr lang="en-IN" sz="2500" b="1" dirty="0"/>
              <a:t>Managing complex medication schedules:</a:t>
            </a:r>
          </a:p>
          <a:p>
            <a:pPr marL="0" indent="0">
              <a:buNone/>
            </a:pPr>
            <a:r>
              <a:rPr lang="en-IN" sz="2100" dirty="0"/>
              <a:t>Providing user with proper managing system of scheduling there doses.</a:t>
            </a:r>
          </a:p>
          <a:p>
            <a:pPr marL="0" indent="0">
              <a:buNone/>
            </a:pPr>
            <a:r>
              <a:rPr lang="en-IN" sz="2500" b="1" dirty="0"/>
              <a:t>Medicine information: </a:t>
            </a:r>
          </a:p>
          <a:p>
            <a:pPr marL="0" indent="0">
              <a:buNone/>
            </a:pPr>
            <a:r>
              <a:rPr lang="en-IN" sz="2100" dirty="0"/>
              <a:t>Providing user with vital information about there medicine. </a:t>
            </a:r>
          </a:p>
          <a:p>
            <a:pPr marL="0" indent="0">
              <a:buNone/>
            </a:pPr>
            <a:endParaRPr lang="en-IN" sz="2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A95F60-EDE0-B49F-7EFD-BA3112939C2C}"/>
              </a:ext>
            </a:extLst>
          </p:cNvPr>
          <p:cNvSpPr txBox="1"/>
          <p:nvPr/>
        </p:nvSpPr>
        <p:spPr>
          <a:xfrm>
            <a:off x="8735750" y="517369"/>
            <a:ext cx="2921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+mj-lt"/>
              </a:rPr>
              <a:t>SOLUTION</a:t>
            </a:r>
            <a:r>
              <a:rPr lang="en-IN" b="1" dirty="0"/>
              <a:t> </a:t>
            </a:r>
            <a:endParaRPr lang="en-IN" sz="3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94286A-A368-7154-DB38-4DA65C043EAF}"/>
              </a:ext>
            </a:extLst>
          </p:cNvPr>
          <p:cNvSpPr/>
          <p:nvPr/>
        </p:nvSpPr>
        <p:spPr>
          <a:xfrm>
            <a:off x="-1" y="0"/>
            <a:ext cx="5072867" cy="6858000"/>
          </a:xfrm>
          <a:prstGeom prst="rect">
            <a:avLst/>
          </a:prstGeom>
          <a:noFill/>
          <a:effectLst>
            <a:outerShdw blurRad="76200" dist="38100" algn="l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CBFE0D-9773-D3BC-A8B1-3252F3D0262E}"/>
              </a:ext>
            </a:extLst>
          </p:cNvPr>
          <p:cNvSpPr/>
          <p:nvPr/>
        </p:nvSpPr>
        <p:spPr>
          <a:xfrm>
            <a:off x="7828547" y="0"/>
            <a:ext cx="4363453" cy="685800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963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7D4982-9A03-3F77-CBC1-B4D2604113F6}"/>
              </a:ext>
            </a:extLst>
          </p:cNvPr>
          <p:cNvSpPr txBox="1"/>
          <p:nvPr/>
        </p:nvSpPr>
        <p:spPr>
          <a:xfrm>
            <a:off x="4593922" y="374754"/>
            <a:ext cx="30041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KEY FEATURES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22FBF9-20E7-6659-50D8-54F40AA8B06B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7598078" y="667141"/>
            <a:ext cx="139602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3CB785-1F7D-3221-C4E0-AC0BFD7F5EFF}"/>
              </a:ext>
            </a:extLst>
          </p:cNvPr>
          <p:cNvCxnSpPr>
            <a:cxnSpLocks/>
          </p:cNvCxnSpPr>
          <p:nvPr/>
        </p:nvCxnSpPr>
        <p:spPr>
          <a:xfrm flipV="1">
            <a:off x="3197902" y="667141"/>
            <a:ext cx="139602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3E49194-E264-4817-F6AC-E17C0BBAA98A}"/>
              </a:ext>
            </a:extLst>
          </p:cNvPr>
          <p:cNvSpPr txBox="1"/>
          <p:nvPr/>
        </p:nvSpPr>
        <p:spPr>
          <a:xfrm>
            <a:off x="2138596" y="1409075"/>
            <a:ext cx="79148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Swasthya Jagarukta: </a:t>
            </a:r>
            <a:r>
              <a:rPr lang="en-IN" sz="2000" dirty="0"/>
              <a:t>This feature provide </a:t>
            </a:r>
            <a:r>
              <a:rPr lang="en-IN" sz="2000" u="sng" dirty="0"/>
              <a:t>Medicine Scheduling</a:t>
            </a:r>
            <a:r>
              <a:rPr lang="en-IN" sz="2000" dirty="0"/>
              <a:t>, </a:t>
            </a:r>
            <a:r>
              <a:rPr lang="en-IN" sz="2000" u="sng" dirty="0"/>
              <a:t>Smart Notifications</a:t>
            </a:r>
            <a:r>
              <a:rPr lang="en-IN" sz="2000" dirty="0"/>
              <a:t>, </a:t>
            </a:r>
            <a:r>
              <a:rPr lang="en-IN" sz="2000" u="sng" dirty="0"/>
              <a:t>Missed Dose Tracker</a:t>
            </a:r>
            <a:r>
              <a:rPr lang="en-IN" sz="2000" dirty="0"/>
              <a:t>, </a:t>
            </a:r>
            <a:r>
              <a:rPr lang="en-IN" sz="2000" u="sng" dirty="0"/>
              <a:t>Multiple Reminder</a:t>
            </a:r>
            <a:r>
              <a:rPr lang="en-IN" sz="2000" dirty="0"/>
              <a:t>, </a:t>
            </a:r>
            <a:r>
              <a:rPr lang="en-IN" sz="2000" u="sng" dirty="0"/>
              <a:t>User-Friendly Interface</a:t>
            </a:r>
            <a:r>
              <a:rPr lang="en-IN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Aarogya Mitra: </a:t>
            </a:r>
            <a:r>
              <a:rPr lang="en-IN" sz="2000" dirty="0"/>
              <a:t>This Mitra(friend) is a blog post in our project where we share some authentic and accurate information from official government websites which is helpful for everyone.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54F27C-9A9E-DD83-FA38-1D8706AB2D74}"/>
              </a:ext>
            </a:extLst>
          </p:cNvPr>
          <p:cNvSpPr txBox="1"/>
          <p:nvPr/>
        </p:nvSpPr>
        <p:spPr>
          <a:xfrm>
            <a:off x="4389057" y="3920723"/>
            <a:ext cx="34138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Why It’s Different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93776-BD70-95FC-0FA5-F0DDE52C1390}"/>
              </a:ext>
            </a:extLst>
          </p:cNvPr>
          <p:cNvCxnSpPr>
            <a:cxnSpLocks/>
          </p:cNvCxnSpPr>
          <p:nvPr/>
        </p:nvCxnSpPr>
        <p:spPr>
          <a:xfrm flipV="1">
            <a:off x="7802940" y="4213109"/>
            <a:ext cx="139602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709E7D-6451-1DB8-CFAE-019A62C5C3ED}"/>
              </a:ext>
            </a:extLst>
          </p:cNvPr>
          <p:cNvCxnSpPr>
            <a:cxnSpLocks/>
          </p:cNvCxnSpPr>
          <p:nvPr/>
        </p:nvCxnSpPr>
        <p:spPr>
          <a:xfrm flipV="1">
            <a:off x="2993037" y="4213108"/>
            <a:ext cx="139602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EE423CD-648A-A898-0E29-B9B15D73FF3B}"/>
              </a:ext>
            </a:extLst>
          </p:cNvPr>
          <p:cNvSpPr txBox="1"/>
          <p:nvPr/>
        </p:nvSpPr>
        <p:spPr>
          <a:xfrm>
            <a:off x="2138596" y="4700133"/>
            <a:ext cx="7914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One Single Platform form </a:t>
            </a:r>
            <a:r>
              <a:rPr lang="en-IN" u="sng" dirty="0"/>
              <a:t>Medicine Scheduling</a:t>
            </a:r>
            <a:r>
              <a:rPr lang="en-IN" dirty="0"/>
              <a:t>,  </a:t>
            </a:r>
            <a:r>
              <a:rPr lang="en-IN" u="sng" dirty="0"/>
              <a:t>Providing vital information about correct dose for different stages</a:t>
            </a:r>
            <a:r>
              <a:rPr lang="en-IN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44CE0-271D-DEA8-1AF9-C1B9847BB86F}"/>
              </a:ext>
            </a:extLst>
          </p:cNvPr>
          <p:cNvSpPr txBox="1"/>
          <p:nvPr/>
        </p:nvSpPr>
        <p:spPr>
          <a:xfrm>
            <a:off x="4856716" y="5436806"/>
            <a:ext cx="2478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Target Users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504ABFD-2C66-3C88-21E5-1FD0C4AC66EA}"/>
              </a:ext>
            </a:extLst>
          </p:cNvPr>
          <p:cNvCxnSpPr>
            <a:cxnSpLocks/>
          </p:cNvCxnSpPr>
          <p:nvPr/>
        </p:nvCxnSpPr>
        <p:spPr>
          <a:xfrm flipV="1">
            <a:off x="7335280" y="5729193"/>
            <a:ext cx="139602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D888E1-18C0-E46B-6817-6113C64DC856}"/>
              </a:ext>
            </a:extLst>
          </p:cNvPr>
          <p:cNvCxnSpPr>
            <a:cxnSpLocks/>
          </p:cNvCxnSpPr>
          <p:nvPr/>
        </p:nvCxnSpPr>
        <p:spPr>
          <a:xfrm flipV="1">
            <a:off x="3460696" y="5729193"/>
            <a:ext cx="1396020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0B05B48-2BBF-36F8-D49B-0FA52B5D9478}"/>
              </a:ext>
            </a:extLst>
          </p:cNvPr>
          <p:cNvSpPr txBox="1"/>
          <p:nvPr/>
        </p:nvSpPr>
        <p:spPr>
          <a:xfrm>
            <a:off x="2138596" y="5900225"/>
            <a:ext cx="79148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Target Audience is people who have more complex medicine scheduling (</a:t>
            </a:r>
            <a:r>
              <a:rPr lang="en-IN" b="1" dirty="0"/>
              <a:t>old aged people</a:t>
            </a:r>
            <a:r>
              <a:rPr lang="en-IN" dirty="0"/>
              <a:t>) and as they often live with family this application help there </a:t>
            </a:r>
            <a:r>
              <a:rPr lang="en-IN" b="1" dirty="0"/>
              <a:t>Caretakers </a:t>
            </a:r>
            <a:r>
              <a:rPr lang="en-IN" dirty="0"/>
              <a:t>and for</a:t>
            </a:r>
            <a:r>
              <a:rPr lang="en-IN" b="1" dirty="0"/>
              <a:t> Health Conscious </a:t>
            </a:r>
            <a:r>
              <a:rPr lang="en-IN" dirty="0"/>
              <a:t>people.</a:t>
            </a:r>
          </a:p>
        </p:txBody>
      </p:sp>
    </p:spTree>
    <p:extLst>
      <p:ext uri="{BB962C8B-B14F-4D97-AF65-F5344CB8AC3E}">
        <p14:creationId xmlns:p14="http://schemas.microsoft.com/office/powerpoint/2010/main" val="4248601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897019E-AB89-1F67-4E48-140B5831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176" y="113"/>
            <a:ext cx="4092315" cy="1127126"/>
          </a:xfrm>
        </p:spPr>
        <p:txBody>
          <a:bodyPr/>
          <a:lstStyle/>
          <a:p>
            <a:pPr algn="ctr"/>
            <a:r>
              <a:rPr lang="en-IN" b="1" dirty="0"/>
              <a:t>Idea/Approach 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E9A7F9-16B8-30BB-1A94-93967F9980A5}"/>
              </a:ext>
            </a:extLst>
          </p:cNvPr>
          <p:cNvSpPr/>
          <p:nvPr/>
        </p:nvSpPr>
        <p:spPr>
          <a:xfrm>
            <a:off x="1124855" y="1405393"/>
            <a:ext cx="1727200" cy="6241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Start App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6B05B34A-31C8-0BE3-0037-F325FFA821F6}"/>
              </a:ext>
            </a:extLst>
          </p:cNvPr>
          <p:cNvSpPr/>
          <p:nvPr/>
        </p:nvSpPr>
        <p:spPr>
          <a:xfrm>
            <a:off x="1879597" y="2167392"/>
            <a:ext cx="217715" cy="6241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36FB60-5B4A-D5D5-85B2-01719127ABAE}"/>
              </a:ext>
            </a:extLst>
          </p:cNvPr>
          <p:cNvSpPr/>
          <p:nvPr/>
        </p:nvSpPr>
        <p:spPr>
          <a:xfrm>
            <a:off x="435428" y="2989943"/>
            <a:ext cx="3106057" cy="94342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User Registration / Login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BC64933-C636-7FFF-7308-A1EE2071C7FA}"/>
              </a:ext>
            </a:extLst>
          </p:cNvPr>
          <p:cNvSpPr/>
          <p:nvPr/>
        </p:nvSpPr>
        <p:spPr>
          <a:xfrm>
            <a:off x="435428" y="4893807"/>
            <a:ext cx="3106057" cy="114662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Add Medicine Details</a:t>
            </a:r>
          </a:p>
          <a:p>
            <a:pPr algn="ctr"/>
            <a:r>
              <a:rPr lang="en-IN" sz="2000" b="1" dirty="0"/>
              <a:t>(Name, Dose, Time, Date(Duration)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25B464E9-E946-5149-72EC-5611D1BFBF34}"/>
              </a:ext>
            </a:extLst>
          </p:cNvPr>
          <p:cNvSpPr/>
          <p:nvPr/>
        </p:nvSpPr>
        <p:spPr>
          <a:xfrm>
            <a:off x="1879597" y="4131808"/>
            <a:ext cx="217715" cy="6241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27A7D66-1809-D90A-BB9D-F5296EC39559}"/>
              </a:ext>
            </a:extLst>
          </p:cNvPr>
          <p:cNvSpPr/>
          <p:nvPr/>
        </p:nvSpPr>
        <p:spPr>
          <a:xfrm>
            <a:off x="3788228" y="5335246"/>
            <a:ext cx="1016000" cy="2637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1600B3-DC53-C322-C471-F12FA47EEDC4}"/>
              </a:ext>
            </a:extLst>
          </p:cNvPr>
          <p:cNvSpPr/>
          <p:nvPr/>
        </p:nvSpPr>
        <p:spPr>
          <a:xfrm>
            <a:off x="5152571" y="4893807"/>
            <a:ext cx="2235203" cy="105829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Store Data In Database</a:t>
            </a:r>
          </a:p>
          <a:p>
            <a:pPr algn="ctr"/>
            <a:r>
              <a:rPr lang="en-IN" sz="2000" b="1" dirty="0"/>
              <a:t>(SQLite)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82BE9B9-5CE8-AA3E-91B2-2AD1F8668275}"/>
              </a:ext>
            </a:extLst>
          </p:cNvPr>
          <p:cNvSpPr/>
          <p:nvPr/>
        </p:nvSpPr>
        <p:spPr>
          <a:xfrm>
            <a:off x="5134427" y="2983819"/>
            <a:ext cx="2645230" cy="105829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Set Notification Timer(with the use of Google Calendar)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73E0E9E0-2470-DF87-F8F6-163969800EFD}"/>
              </a:ext>
            </a:extLst>
          </p:cNvPr>
          <p:cNvSpPr/>
          <p:nvPr/>
        </p:nvSpPr>
        <p:spPr>
          <a:xfrm rot="10800000">
            <a:off x="6248396" y="4155903"/>
            <a:ext cx="217715" cy="62411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E4DE9FF9-4F18-84C6-D5AB-C419F3E3F1BF}"/>
              </a:ext>
            </a:extLst>
          </p:cNvPr>
          <p:cNvSpPr/>
          <p:nvPr/>
        </p:nvSpPr>
        <p:spPr>
          <a:xfrm rot="10800000">
            <a:off x="6248395" y="2507514"/>
            <a:ext cx="217715" cy="4146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28F7A98-0122-9A2B-8C97-911EDC1971FB}"/>
              </a:ext>
            </a:extLst>
          </p:cNvPr>
          <p:cNvSpPr/>
          <p:nvPr/>
        </p:nvSpPr>
        <p:spPr>
          <a:xfrm>
            <a:off x="4571995" y="1655821"/>
            <a:ext cx="3570514" cy="61685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Show Daily/Weekly Report</a:t>
            </a: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300FEDA9-F1CC-1B36-0EB3-37E17224247A}"/>
              </a:ext>
            </a:extLst>
          </p:cNvPr>
          <p:cNvSpPr/>
          <p:nvPr/>
        </p:nvSpPr>
        <p:spPr>
          <a:xfrm>
            <a:off x="10526669" y="3077612"/>
            <a:ext cx="218111" cy="2759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E6ACAC5-2AF8-994A-C9AB-E1B319FE37AB}"/>
              </a:ext>
            </a:extLst>
          </p:cNvPr>
          <p:cNvSpPr/>
          <p:nvPr/>
        </p:nvSpPr>
        <p:spPr>
          <a:xfrm>
            <a:off x="9976476" y="3562522"/>
            <a:ext cx="1318495" cy="45614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End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4115A13B-BA2E-BFD0-8DAE-20BB9F9C9F3C}"/>
              </a:ext>
            </a:extLst>
          </p:cNvPr>
          <p:cNvSpPr/>
          <p:nvPr/>
        </p:nvSpPr>
        <p:spPr>
          <a:xfrm>
            <a:off x="8394491" y="1808220"/>
            <a:ext cx="644577" cy="3120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54D27D-7147-269A-29DA-28264E1A1A1B}"/>
              </a:ext>
            </a:extLst>
          </p:cNvPr>
          <p:cNvSpPr/>
          <p:nvPr/>
        </p:nvSpPr>
        <p:spPr>
          <a:xfrm>
            <a:off x="9249339" y="1205327"/>
            <a:ext cx="2772772" cy="158617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Give friendly messages like “Get well soon” and “ Take Medicine properly”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9ABD6D-BC68-D612-0225-02723CE96606}"/>
              </a:ext>
            </a:extLst>
          </p:cNvPr>
          <p:cNvCxnSpPr>
            <a:cxnSpLocks/>
          </p:cNvCxnSpPr>
          <p:nvPr/>
        </p:nvCxnSpPr>
        <p:spPr>
          <a:xfrm>
            <a:off x="8259580" y="563676"/>
            <a:ext cx="112426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1C7F16-2F7B-E10E-C815-C721D94383B8}"/>
              </a:ext>
            </a:extLst>
          </p:cNvPr>
          <p:cNvCxnSpPr>
            <a:cxnSpLocks/>
          </p:cNvCxnSpPr>
          <p:nvPr/>
        </p:nvCxnSpPr>
        <p:spPr>
          <a:xfrm>
            <a:off x="3336857" y="563676"/>
            <a:ext cx="1124263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770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BAE25-E8B4-352B-5064-C8DBCD7D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86600" cy="1325563"/>
          </a:xfrm>
        </p:spPr>
        <p:txBody>
          <a:bodyPr/>
          <a:lstStyle/>
          <a:p>
            <a:r>
              <a:rPr lang="en-IN" b="1" dirty="0"/>
              <a:t>TECHNOLOGY STACK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2C6D20-E353-37EA-B149-B6D60005B45E}"/>
              </a:ext>
            </a:extLst>
          </p:cNvPr>
          <p:cNvSpPr/>
          <p:nvPr/>
        </p:nvSpPr>
        <p:spPr>
          <a:xfrm>
            <a:off x="838197" y="1717291"/>
            <a:ext cx="6447971" cy="9220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dirty="0"/>
              <a:t>FRONTEND  </a:t>
            </a:r>
            <a:r>
              <a:rPr lang="en-IN" b="1" dirty="0"/>
              <a:t>               </a:t>
            </a:r>
            <a:r>
              <a:rPr lang="en-IN" sz="2500" dirty="0"/>
              <a:t>HTML,CSS,JavaScript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262E6D3-14F5-B004-1CEC-FC8216C9FDB1}"/>
              </a:ext>
            </a:extLst>
          </p:cNvPr>
          <p:cNvSpPr/>
          <p:nvPr/>
        </p:nvSpPr>
        <p:spPr>
          <a:xfrm>
            <a:off x="838197" y="3077588"/>
            <a:ext cx="6447969" cy="9220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/>
              <a:t>Backend               </a:t>
            </a:r>
            <a:r>
              <a:rPr lang="en-IN" sz="2500" dirty="0"/>
              <a:t>Node.js and Express.js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74FB8B-BD87-3291-1A74-85E98A7F9B3C}"/>
              </a:ext>
            </a:extLst>
          </p:cNvPr>
          <p:cNvSpPr/>
          <p:nvPr/>
        </p:nvSpPr>
        <p:spPr>
          <a:xfrm>
            <a:off x="838196" y="4437885"/>
            <a:ext cx="6447969" cy="10774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/>
              <a:t>Notification        </a:t>
            </a:r>
            <a:r>
              <a:rPr lang="en-IN" sz="2500" dirty="0"/>
              <a:t>Google Calendar API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C8D92F-BD51-181D-70A3-3EFB0DA8FF6F}"/>
              </a:ext>
            </a:extLst>
          </p:cNvPr>
          <p:cNvSpPr/>
          <p:nvPr/>
        </p:nvSpPr>
        <p:spPr>
          <a:xfrm>
            <a:off x="838196" y="5878285"/>
            <a:ext cx="6447969" cy="78377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400" b="1" dirty="0"/>
              <a:t>Database             </a:t>
            </a:r>
            <a:r>
              <a:rPr lang="en-IN" sz="2500" dirty="0"/>
              <a:t>SQLite</a:t>
            </a:r>
          </a:p>
        </p:txBody>
      </p:sp>
      <p:pic>
        <p:nvPicPr>
          <p:cNvPr id="9" name="Picture 8" descr="A logo of a html code&#10;&#10;AI-generated content may be incorrect.">
            <a:extLst>
              <a:ext uri="{FF2B5EF4-FFF2-40B4-BE49-F238E27FC236}">
                <a16:creationId xmlns:a16="http://schemas.microsoft.com/office/drawing/2014/main" id="{EC9F90E1-F379-6879-E701-E4393B894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971" y="742950"/>
            <a:ext cx="1248229" cy="1325563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pic>
        <p:nvPicPr>
          <p:cNvPr id="11" name="Picture 10" descr="A blue and white logo&#10;&#10;AI-generated content may be incorrect.">
            <a:extLst>
              <a:ext uri="{FF2B5EF4-FFF2-40B4-BE49-F238E27FC236}">
                <a16:creationId xmlns:a16="http://schemas.microsoft.com/office/drawing/2014/main" id="{15809DC7-2317-FD5F-620A-8F99C0C77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81" y="1884903"/>
            <a:ext cx="1393372" cy="1560058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pic>
        <p:nvPicPr>
          <p:cNvPr id="13" name="Picture 12" descr="A yellow and white logo&#10;&#10;AI-generated content may be incorrect.">
            <a:extLst>
              <a:ext uri="{FF2B5EF4-FFF2-40B4-BE49-F238E27FC236}">
                <a16:creationId xmlns:a16="http://schemas.microsoft.com/office/drawing/2014/main" id="{02D30C42-51F8-31EB-17F6-5688040E0B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3012522"/>
            <a:ext cx="1759861" cy="2836650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pic>
        <p:nvPicPr>
          <p:cNvPr id="17" name="Picture 16" descr="A blue logo with a feather&#10;&#10;AI-generated content may be incorrect.">
            <a:extLst>
              <a:ext uri="{FF2B5EF4-FFF2-40B4-BE49-F238E27FC236}">
                <a16:creationId xmlns:a16="http://schemas.microsoft.com/office/drawing/2014/main" id="{F52D29D6-B69A-6992-1DBB-C4DD359C1E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8152" y="5799005"/>
            <a:ext cx="2264229" cy="942329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52929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743236-EC46-5F6A-5CB0-8C9FE8461B5B}"/>
              </a:ext>
            </a:extLst>
          </p:cNvPr>
          <p:cNvSpPr txBox="1"/>
          <p:nvPr/>
        </p:nvSpPr>
        <p:spPr>
          <a:xfrm>
            <a:off x="3270354" y="254833"/>
            <a:ext cx="5651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Feasibility and Showstoppers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ED3E6-CEB1-93D0-A4C7-87C5EF7F8742}"/>
              </a:ext>
            </a:extLst>
          </p:cNvPr>
          <p:cNvSpPr txBox="1"/>
          <p:nvPr/>
        </p:nvSpPr>
        <p:spPr>
          <a:xfrm>
            <a:off x="1603947" y="939596"/>
            <a:ext cx="87542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Tech Stack we are using is highly feasible to build project within time limit.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Swasthya Jagarukta and Aarogya Mitra </a:t>
            </a:r>
            <a:r>
              <a:rPr lang="en-IN" sz="2000" dirty="0"/>
              <a:t>are showstoppers. These features are quite helpful for users.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20BBD8-352D-60A9-BD8F-B3375816A8B7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8921645" y="547221"/>
            <a:ext cx="1067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30A39A-249E-44EB-A414-CC290C7CA109}"/>
              </a:ext>
            </a:extLst>
          </p:cNvPr>
          <p:cNvCxnSpPr>
            <a:cxnSpLocks/>
          </p:cNvCxnSpPr>
          <p:nvPr/>
        </p:nvCxnSpPr>
        <p:spPr>
          <a:xfrm>
            <a:off x="2092674" y="547221"/>
            <a:ext cx="10670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D16AF1D-97A1-E346-3A60-76769894A2F3}"/>
              </a:ext>
            </a:extLst>
          </p:cNvPr>
          <p:cNvSpPr txBox="1"/>
          <p:nvPr/>
        </p:nvSpPr>
        <p:spPr>
          <a:xfrm>
            <a:off x="3934187" y="3045154"/>
            <a:ext cx="4323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USP &amp; BUSINESS MODEL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4598B4-0FE4-8DEF-9FA1-36BA4C4A9998}"/>
              </a:ext>
            </a:extLst>
          </p:cNvPr>
          <p:cNvCxnSpPr>
            <a:cxnSpLocks/>
          </p:cNvCxnSpPr>
          <p:nvPr/>
        </p:nvCxnSpPr>
        <p:spPr>
          <a:xfrm>
            <a:off x="8257811" y="3304271"/>
            <a:ext cx="11973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10B02B-2F92-C925-57B0-44C465AFB0CC}"/>
              </a:ext>
            </a:extLst>
          </p:cNvPr>
          <p:cNvCxnSpPr>
            <a:cxnSpLocks/>
          </p:cNvCxnSpPr>
          <p:nvPr/>
        </p:nvCxnSpPr>
        <p:spPr>
          <a:xfrm>
            <a:off x="2671665" y="3304271"/>
            <a:ext cx="11973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0AE051-8198-2C68-29F6-E71225CEE23B}"/>
              </a:ext>
            </a:extLst>
          </p:cNvPr>
          <p:cNvSpPr txBox="1"/>
          <p:nvPr/>
        </p:nvSpPr>
        <p:spPr>
          <a:xfrm>
            <a:off x="2092673" y="3860800"/>
            <a:ext cx="78960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USP is its Managing complex medication schedules and guide them that they aren’t taking wrong dose of medicines.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can be created as </a:t>
            </a:r>
            <a:r>
              <a:rPr lang="en-IN" b="1" dirty="0"/>
              <a:t>B2C</a:t>
            </a:r>
            <a:r>
              <a:rPr lang="en-IN" dirty="0"/>
              <a:t> where we interact directly with customers and sell them premium application with some more </a:t>
            </a:r>
            <a:r>
              <a:rPr lang="en-IN" b="1" dirty="0"/>
              <a:t>future advancements </a:t>
            </a:r>
            <a:r>
              <a:rPr lang="en-IN" dirty="0"/>
              <a:t>like daily protein trackers and  daily calories intake.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3B4EAE-0301-12CD-8D2F-557FC06308DC}"/>
              </a:ext>
            </a:extLst>
          </p:cNvPr>
          <p:cNvSpPr txBox="1"/>
          <p:nvPr/>
        </p:nvSpPr>
        <p:spPr>
          <a:xfrm>
            <a:off x="4366240" y="5894656"/>
            <a:ext cx="32296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/>
              <a:t>THANK YOU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4A4503-6F63-5A8E-6632-6F69485FD423}"/>
              </a:ext>
            </a:extLst>
          </p:cNvPr>
          <p:cNvSpPr txBox="1"/>
          <p:nvPr/>
        </p:nvSpPr>
        <p:spPr>
          <a:xfrm>
            <a:off x="4534106" y="5494546"/>
            <a:ext cx="2893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This is software focused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5F6F624-F2C7-1585-EBF1-F5CBBFEBC455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7428040" y="5694601"/>
            <a:ext cx="5403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896A66-C33A-4E63-DEE2-B3442DC4B96C}"/>
              </a:ext>
            </a:extLst>
          </p:cNvPr>
          <p:cNvCxnSpPr>
            <a:cxnSpLocks/>
          </p:cNvCxnSpPr>
          <p:nvPr/>
        </p:nvCxnSpPr>
        <p:spPr>
          <a:xfrm>
            <a:off x="3934187" y="5694601"/>
            <a:ext cx="5403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004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2175</TotalTime>
  <Words>432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HGSSoeiKakugothicUB</vt:lpstr>
      <vt:lpstr>Algerian</vt:lpstr>
      <vt:lpstr>Aptos</vt:lpstr>
      <vt:lpstr>Aptos Display</vt:lpstr>
      <vt:lpstr>Arial</vt:lpstr>
      <vt:lpstr>Avenir Next LT Pro</vt:lpstr>
      <vt:lpstr>Calibri</vt:lpstr>
      <vt:lpstr>Office Theme</vt:lpstr>
      <vt:lpstr>MedConnect -Bridging Patients and Safe Prescriptions.</vt:lpstr>
      <vt:lpstr>PROBLEM STATEMENT</vt:lpstr>
      <vt:lpstr>PowerPoint Presentation</vt:lpstr>
      <vt:lpstr>Idea/Approach  </vt:lpstr>
      <vt:lpstr>TECHNOLOGY STACK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Chand Sharma</dc:creator>
  <cp:lastModifiedBy>Ramesh Chand Sharma</cp:lastModifiedBy>
  <cp:revision>11</cp:revision>
  <dcterms:created xsi:type="dcterms:W3CDTF">2025-10-22T06:01:13Z</dcterms:created>
  <dcterms:modified xsi:type="dcterms:W3CDTF">2026-02-07T20:03:16Z</dcterms:modified>
</cp:coreProperties>
</file>